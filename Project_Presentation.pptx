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993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19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5729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AAC8C-F9AF-46B5-9855-5EB4D1CA2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98C364-9C0A-F35A-A5E0-AFB209B09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3823A5-F229-1094-BC86-840A41747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918B8-3AF4-6F1C-88A6-F62500F30F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FFCFC-2C6E-8DE8-5F51-E77877172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DD9BFF-D62C-26D4-6893-FE28D50D81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8F144-604D-BA04-3652-88F8285CC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DA1FE-BD07-17A2-5F05-6BC323D67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662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0.emnlp-main.550.pdf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926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CSCI4144 · Final Project · Dalhousie University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5852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Question Answering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Dense Passage Retrieval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RAG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92240" y="640080"/>
            <a:ext cx="2423160" cy="1051560"/>
          </a:xfrm>
          <a:prstGeom prst="rect">
            <a:avLst/>
          </a:prstGeom>
          <a:solidFill>
            <a:srgbClr val="1C7293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92240" y="64008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492240" y="1874520"/>
            <a:ext cx="2423160" cy="105156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87452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6492240" y="3108960"/>
            <a:ext cx="2423160" cy="1051560"/>
          </a:xfrm>
          <a:prstGeom prst="rect">
            <a:avLst/>
          </a:prstGeom>
          <a:solidFill>
            <a:srgbClr val="021E3A">
              <a:alpha val="9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310896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E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663440"/>
            <a:ext cx="85039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Avijit Karmoker  ·  B00825518  ·  Prof. Qiang Ye  ·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Search Works Today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match </a:t>
            </a: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keywords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query to documents.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"heart attack"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Document: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"myocardial infarction"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Not retrieved — despite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same meaning!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0" y="9144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 — A Better Approach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 encodes meaning into </a:t>
            </a: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compares semantic similarity.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"heart attack"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Document: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"myocardial infarction"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1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Retrieved — same meaning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1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detected via vectors!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44348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mismatch is a key failure point in information retrieval — DPR addresses this through learned representations.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Dense Passage Retrieval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960120"/>
            <a:ext cx="548640" cy="5486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and all passages are each converted into a 384-number vector using a neural network (bi-encoder).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395728" y="2240280"/>
            <a:ext cx="21031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06040" y="91440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37560" y="960120"/>
            <a:ext cx="548640" cy="5486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9748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97480" y="2029968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passage vectors are stored in a NumPy matrix — our vector index. This is built once offline.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27448" y="2240280"/>
            <a:ext cx="21031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0" y="91440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69280" y="960120"/>
            <a:ext cx="548640" cy="5486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2029968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new question, its vector is computed and compared to all passage vectors using dot product (cosine similarity).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59168" y="2240280"/>
            <a:ext cx="21031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269480" y="91440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001000" y="960120"/>
            <a:ext cx="548640" cy="5486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0100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6092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60920" y="2029968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top-k most similar passages are returned. The best answer sentence is extracted from these passages.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Karpukhin et al. (2020) — Dense Passage Retrieval for Open-Domain Question Answering, EMNLP 2020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36576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80 passages, 60 queries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6 topics: Science, Medicine, History,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Technology, Geography, Economics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20 distractor passages (irrelevant)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Mirrors MS MARCO Passage v2.1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structure — no internet needed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144475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144475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99339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Bi-encoder: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99339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 (22M params)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54203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5420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rank_bm25 · BM25Okapi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09067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30906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dot-product search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63931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36393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MRR, Recall, Precision @ k=1,5,10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418795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418795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bar chart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4114800" cy="3108959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MRR@k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Recall@k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P@k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BM25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0.7833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0.7833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0.7833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BM25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0.8639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0.9500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0.1900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BM25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0.8667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0.9667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0.0967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7A4F"/>
                          </a:solidFill>
                        </a:rPr>
                        <a:t>DPR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0.7833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0.7833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0.7833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7A4F"/>
                          </a:solidFill>
                        </a:rPr>
                        <a:t>DPR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0.8708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0.9667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0.1933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7A4F"/>
                          </a:solidFill>
                        </a:rPr>
                        <a:t>DPR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0.8708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0.9667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0.0967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23560" y="914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4" name="Shape 3"/>
          <p:cNvSpPr/>
          <p:nvPr/>
        </p:nvSpPr>
        <p:spPr>
          <a:xfrm>
            <a:off x="5623560" y="1371600"/>
            <a:ext cx="256032" cy="2560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89320" y="13533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 ≥ BM25 across all metrics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23560" y="2148840"/>
            <a:ext cx="256032" cy="2560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89320" y="213055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 Recall@10 = 0.9667 vs BM25 = 0.9667 — tied but DPR wins on MRR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23560" y="2926080"/>
            <a:ext cx="256032" cy="2560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89320" y="29077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 especially better when query words differ from passage words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23560" y="3703320"/>
            <a:ext cx="256032" cy="2560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89320" y="36850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is larger on real-world datasets (EMNLP paper: DPR MRR@10 = 0.318, BM25 = 0.188)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" y="4114800"/>
            <a:ext cx="5029200" cy="658368"/>
          </a:xfrm>
          <a:prstGeom prst="rect">
            <a:avLst/>
          </a:prstGeom>
          <a:solidFill>
            <a:srgbClr val="217A4F"/>
          </a:solidFill>
          <a:ln w="12700">
            <a:solidFill>
              <a:srgbClr val="217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20040" y="411480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DPR at MRR@10 (0.8708) vs BM25 (0.8667)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2C77B0-7129-5A85-1E09-F43C61EA6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91A1830-768F-D3E4-355E-1F3EFAF4E57A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8D4E7AE-80B3-6B53-60D6-8437884F5311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26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293A3D3-1F9A-1D31-A7E5-A47C894480C5}"/>
              </a:ext>
            </a:extLst>
          </p:cNvPr>
          <p:cNvSpPr/>
          <p:nvPr/>
        </p:nvSpPr>
        <p:spPr>
          <a:xfrm>
            <a:off x="320040" y="411480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DPR at MRR@10 (0.8708) vs BM25 (0.8667)</a:t>
            </a:r>
            <a:endParaRPr lang="en-US" sz="1300" dirty="0"/>
          </a:p>
        </p:txBody>
      </p:sp>
      <p:pic>
        <p:nvPicPr>
          <p:cNvPr id="17" name="Picture 1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A07ED40E-49FF-41E3-E2E4-AC835118D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204165"/>
            <a:ext cx="7772400" cy="323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772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 understands meaning, not just keywords — closing the vocabulary gap in search.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on learned embeddings outperforms BM25, especially on paraphrased queries.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65760" y="274320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69748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 pipeline successfully extracts focused answers from retrieved passages.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3566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5204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fine-tuned reader model, larger corpus, FAISS for scale.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4663440"/>
            <a:ext cx="85039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Avijit Karmoker  ·  B00825518  ·  CSCI4144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2D2049-60C8-8B5E-58AF-F728BDA37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E7180A-A8B3-BE36-EBB6-1527DABB96FF}"/>
              </a:ext>
            </a:extLst>
          </p:cNvPr>
          <p:cNvSpPr/>
          <p:nvPr/>
        </p:nvSpPr>
        <p:spPr>
          <a:xfrm>
            <a:off x="-365760" y="-18288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54EBEA-134C-CDE2-597A-CCF1F589B0FA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C74B7AC-D392-8E0D-6B04-F5F1A6A2FC5E}"/>
              </a:ext>
            </a:extLst>
          </p:cNvPr>
          <p:cNvSpPr/>
          <p:nvPr/>
        </p:nvSpPr>
        <p:spPr>
          <a:xfrm>
            <a:off x="320040" y="411480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DPR at MRR@10 (0.8708) vs BM25 (0.8667)</a:t>
            </a:r>
            <a:endParaRPr lang="en-US" sz="13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BB05D7-5290-04B9-07D5-0AF355EC78B4}"/>
              </a:ext>
            </a:extLst>
          </p:cNvPr>
          <p:cNvSpPr txBox="1"/>
          <p:nvPr/>
        </p:nvSpPr>
        <p:spPr>
          <a:xfrm>
            <a:off x="137160" y="952500"/>
            <a:ext cx="775716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/>
              <a:t>Karpukhin</a:t>
            </a:r>
            <a:r>
              <a:rPr lang="en-US" sz="1400" b="1" dirty="0"/>
              <a:t>, V., Oguz, B., Min, S., Lewis, P., Wu, L., </a:t>
            </a:r>
            <a:r>
              <a:rPr lang="en-US" sz="1400" b="1" dirty="0" err="1"/>
              <a:t>Edunov</a:t>
            </a:r>
            <a:r>
              <a:rPr lang="en-US" sz="1400" b="1" dirty="0"/>
              <a:t>, S., Chen, D.,  &amp; Yih, W. (2020).</a:t>
            </a:r>
            <a:r>
              <a:rPr lang="en-US" sz="1400" dirty="0"/>
              <a:t> Dense Passage Retrieval for Open-Domain Question Answering. Proceedings of the 2020 Conference on Empirical Methods in Natural Language Processing (EMNLP), pp. 6769–6781. </a:t>
            </a:r>
            <a:r>
              <a:rPr lang="en-US" sz="1400" dirty="0">
                <a:hlinkClick r:id="rId3"/>
              </a:rPr>
              <a:t>https://aclanthology.org/2020.emnlp-main.550.pdf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Lewis, P., Perez, E., </a:t>
            </a:r>
            <a:r>
              <a:rPr lang="en-US" sz="1400" b="1" dirty="0" err="1"/>
              <a:t>Piktus</a:t>
            </a:r>
            <a:r>
              <a:rPr lang="en-US" sz="1400" b="1" dirty="0"/>
              <a:t>, A., Petroni, F., </a:t>
            </a:r>
            <a:r>
              <a:rPr lang="en-US" sz="1400" b="1" dirty="0" err="1"/>
              <a:t>Karpukhin</a:t>
            </a:r>
            <a:r>
              <a:rPr lang="en-US" sz="1400" b="1" dirty="0"/>
              <a:t>, V., Goyal, N., ... &amp; Kiela, D. (2020).</a:t>
            </a:r>
            <a:r>
              <a:rPr lang="en-US" sz="1400" dirty="0"/>
              <a:t> Retrieval-Augmented Generation for Knowledge-Intensive NLP Tasks. Advances in Neural Information Processing Systems (</a:t>
            </a:r>
            <a:r>
              <a:rPr lang="en-US" sz="1400" dirty="0" err="1"/>
              <a:t>NeurIPS</a:t>
            </a:r>
            <a:r>
              <a:rPr lang="en-US" sz="1400" dirty="0"/>
              <a:t>), 33, 9459–9474.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Robertson, S., &amp; Zaragoza, H. (2009). The Probabilistic Relevance Framework: BM25 and Beyond</a:t>
            </a:r>
            <a:r>
              <a:rPr lang="en-US" sz="1400" dirty="0"/>
              <a:t>. Foundations and Trends in Information Retrieval, 3(4), 333–389.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Reimers, N., &amp; </a:t>
            </a:r>
            <a:r>
              <a:rPr lang="en-US" sz="1400" b="1" dirty="0" err="1"/>
              <a:t>Gurevych</a:t>
            </a:r>
            <a:r>
              <a:rPr lang="en-US" sz="1400" b="1" dirty="0"/>
              <a:t>, I. (2019). Sentence-BERT: Sentence Embeddings using Siamese BERT-Networks</a:t>
            </a:r>
            <a:r>
              <a:rPr lang="en-US" sz="1400" dirty="0"/>
              <a:t>. Proceedings of the 2019 Conference on EMNLP. https://</a:t>
            </a:r>
            <a:r>
              <a:rPr lang="en-US" sz="1400" dirty="0" err="1"/>
              <a:t>arxiv.org</a:t>
            </a:r>
            <a:r>
              <a:rPr lang="en-US" sz="1400" dirty="0"/>
              <a:t>/abs/1908.10084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500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740</Words>
  <Application>Microsoft Macintosh PowerPoint</Application>
  <PresentationFormat>On-screen Show (16:9)</PresentationFormat>
  <Paragraphs>141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DPR &amp; RAG - CSCI4144 Project</dc:title>
  <dc:subject>PptxGenJS Presentation</dc:subject>
  <dc:creator>Avijit Karmoker</dc:creator>
  <cp:lastModifiedBy>Avijit Karmoker</cp:lastModifiedBy>
  <cp:revision>3</cp:revision>
  <dcterms:created xsi:type="dcterms:W3CDTF">2026-04-14T02:16:01Z</dcterms:created>
  <dcterms:modified xsi:type="dcterms:W3CDTF">2026-04-14T03:09:39Z</dcterms:modified>
</cp:coreProperties>
</file>